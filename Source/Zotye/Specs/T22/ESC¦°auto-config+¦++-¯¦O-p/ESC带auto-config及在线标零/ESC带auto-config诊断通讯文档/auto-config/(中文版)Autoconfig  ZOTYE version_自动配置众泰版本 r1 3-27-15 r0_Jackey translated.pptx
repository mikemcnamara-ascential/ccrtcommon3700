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8"/>
  </p:notesMasterIdLst>
  <p:handoutMasterIdLst>
    <p:handoutMasterId r:id="rId9"/>
  </p:handoutMasterIdLst>
  <p:sldIdLst>
    <p:sldId id="309" r:id="rId5"/>
    <p:sldId id="308" r:id="rId6"/>
    <p:sldId id="305" r:id="rId7"/>
  </p:sldIdLst>
  <p:sldSz cx="6858000" cy="9144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6699"/>
    <a:srgbClr val="0099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7" autoAdjust="0"/>
    <p:restoredTop sz="93050" autoAdjust="0"/>
  </p:normalViewPr>
  <p:slideViewPr>
    <p:cSldViewPr snapToGrid="0">
      <p:cViewPr>
        <p:scale>
          <a:sx n="100" d="100"/>
          <a:sy n="100" d="100"/>
        </p:scale>
        <p:origin x="-1176" y="108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990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0" tIns="46581" rIns="93160" bIns="46581" numCol="1" anchor="t" anchorCtr="0" compatLnSpc="1">
            <a:prstTxWarp prst="textNoShape">
              <a:avLst/>
            </a:prstTxWarp>
          </a:bodyPr>
          <a:lstStyle>
            <a:lvl1pPr defTabSz="931702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2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0" tIns="46581" rIns="93160" bIns="46581" numCol="1" anchor="t" anchorCtr="0" compatLnSpc="1">
            <a:prstTxWarp prst="textNoShape">
              <a:avLst/>
            </a:prstTxWarp>
          </a:bodyPr>
          <a:lstStyle>
            <a:lvl1pPr algn="r" defTabSz="931702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0" tIns="46581" rIns="93160" bIns="46581" numCol="1" anchor="b" anchorCtr="0" compatLnSpc="1">
            <a:prstTxWarp prst="textNoShape">
              <a:avLst/>
            </a:prstTxWarp>
          </a:bodyPr>
          <a:lstStyle>
            <a:lvl1pPr defTabSz="931702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60" tIns="46581" rIns="93160" bIns="46581" numCol="1" anchor="b" anchorCtr="0" compatLnSpc="1">
            <a:prstTxWarp prst="textNoShape">
              <a:avLst/>
            </a:prstTxWarp>
          </a:bodyPr>
          <a:lstStyle>
            <a:lvl1pPr algn="r" defTabSz="931702" eaLnBrk="1" hangingPunct="1">
              <a:defRPr sz="1200">
                <a:latin typeface="Arial" charset="0"/>
              </a:defRPr>
            </a:lvl1pPr>
          </a:lstStyle>
          <a:p>
            <a:fld id="{52D720DF-9CAD-4B43-9099-01639A4C37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79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45D3C-0A1C-48EB-8C5F-4BFBDC3B900B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97100" y="696913"/>
            <a:ext cx="2616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596A0-096A-43B9-9D4D-979BC8793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2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7100" y="696913"/>
            <a:ext cx="2616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596A0-096A-43B9-9D4D-979BC8793C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44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7100" y="696913"/>
            <a:ext cx="2616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596A0-096A-43B9-9D4D-979BC8793C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4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7100" y="696913"/>
            <a:ext cx="2616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596A0-096A-43B9-9D4D-979BC8793C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4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>
                <a:solidFill>
                  <a:srgbClr val="006699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251222" y="8754533"/>
            <a:ext cx="1400175" cy="21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204" tIns="39889" rIns="81204" bIns="39889">
            <a:spAutoFit/>
          </a:bodyPr>
          <a:lstStyle/>
          <a:p>
            <a:pPr defTabSz="820738">
              <a:spcBef>
                <a:spcPct val="50000"/>
              </a:spcBef>
            </a:pPr>
            <a:r>
              <a:rPr lang="en-US" sz="900" i="1"/>
              <a:t>BWIGroup Confidential</a:t>
            </a:r>
            <a:endParaRPr lang="en-US" altLang="zh-CN" sz="900" i="1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5692379" y="8754533"/>
            <a:ext cx="904875" cy="357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204" tIns="39889" rIns="81204" bIns="39889">
            <a:spAutoFit/>
          </a:bodyPr>
          <a:lstStyle/>
          <a:p>
            <a:pPr algn="r" defTabSz="820738">
              <a:spcBef>
                <a:spcPct val="50000"/>
              </a:spcBef>
            </a:pPr>
            <a:r>
              <a:rPr lang="en-US" altLang="zh-CN" sz="900">
                <a:latin typeface="Arial" charset="0"/>
              </a:rPr>
              <a:t>Chassis Systems</a:t>
            </a:r>
            <a:endParaRPr lang="en-US" altLang="zh-CN" sz="900" i="1">
              <a:latin typeface="Arial" charset="0"/>
            </a:endParaRPr>
          </a:p>
        </p:txBody>
      </p:sp>
      <p:pic>
        <p:nvPicPr>
          <p:cNvPr id="47112" name="Picture 8" descr="BWI Logo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E8E8E8"/>
              </a:clrFrom>
              <a:clrTo>
                <a:srgbClr val="E8E8E8">
                  <a:alpha val="0"/>
                </a:srgbClr>
              </a:clrTo>
            </a:clrChange>
            <a:lum bright="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8" y="410634"/>
            <a:ext cx="1445419" cy="70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 userDrawn="1"/>
        </p:nvSpPr>
        <p:spPr bwMode="auto">
          <a:xfrm>
            <a:off x="2096692" y="21266"/>
            <a:ext cx="4363640" cy="584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+mj-lt"/>
                <a:ea typeface="+mj-ea"/>
                <a:cs typeface="+mj-cs"/>
              </a:defRPr>
            </a:lvl1pPr>
            <a:lvl2pPr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2pPr>
            <a:lvl3pPr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3pPr>
            <a:lvl4pPr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4pPr>
            <a:lvl5pPr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5pPr>
            <a:lvl6pPr marL="457200"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6pPr>
            <a:lvl7pPr marL="914400"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7pPr>
            <a:lvl8pPr marL="1371600"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8pPr>
            <a:lvl9pPr marL="1828800" algn="r" defTabSz="88265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dirty="0" smtClean="0">
                <a:ea typeface="宋体" pitchFamily="2" charset="-122"/>
              </a:rPr>
              <a:t>Cal Flash </a:t>
            </a:r>
            <a:r>
              <a:rPr lang="en-US" dirty="0" err="1" smtClean="0">
                <a:ea typeface="宋体" pitchFamily="2" charset="-122"/>
              </a:rPr>
              <a:t>Autoconfig</a:t>
            </a:r>
            <a:r>
              <a:rPr lang="en-US" dirty="0" smtClean="0">
                <a:ea typeface="宋体" pitchFamily="2" charset="-122"/>
              </a:rPr>
              <a:t> Strategy </a:t>
            </a:r>
            <a:endParaRPr lang="en-US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5361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976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654" y="1397001"/>
            <a:ext cx="3069431" cy="64664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56385" y="1397001"/>
            <a:ext cx="3070622" cy="64664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4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4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85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805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31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1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63717" y="63500"/>
            <a:ext cx="1563290" cy="77999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653" y="63500"/>
            <a:ext cx="4576763" cy="77999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4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2654" y="1397001"/>
            <a:ext cx="6254353" cy="6466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751" tIns="44163" rIns="89751" bIns="441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096692" y="63501"/>
            <a:ext cx="4363640" cy="84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51222" y="8754533"/>
            <a:ext cx="1400175" cy="21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204" tIns="39889" rIns="81204" bIns="39889">
            <a:spAutoFit/>
          </a:bodyPr>
          <a:lstStyle/>
          <a:p>
            <a:pPr defTabSz="820738">
              <a:spcBef>
                <a:spcPct val="50000"/>
              </a:spcBef>
            </a:pPr>
            <a:r>
              <a:rPr lang="en-US" sz="900" i="1"/>
              <a:t>BWIGroup Confidential</a:t>
            </a:r>
            <a:endParaRPr lang="en-US" altLang="zh-CN" sz="900" i="1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5605463" y="8754533"/>
            <a:ext cx="934641" cy="357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204" tIns="39889" rIns="81204" bIns="39889">
            <a:spAutoFit/>
          </a:bodyPr>
          <a:lstStyle/>
          <a:p>
            <a:pPr algn="r" defTabSz="820738">
              <a:spcBef>
                <a:spcPct val="50000"/>
              </a:spcBef>
            </a:pPr>
            <a:r>
              <a:rPr lang="en-US" altLang="zh-CN" sz="900" i="1">
                <a:latin typeface="Arial" charset="0"/>
              </a:rPr>
              <a:t>Chassis Systems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063479" y="8754533"/>
            <a:ext cx="678656" cy="21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204" tIns="39889" rIns="81204" bIns="39889">
            <a:spAutoFit/>
          </a:bodyPr>
          <a:lstStyle/>
          <a:p>
            <a:pPr defTabSz="820738">
              <a:spcBef>
                <a:spcPct val="50000"/>
              </a:spcBef>
            </a:pPr>
            <a:r>
              <a:rPr lang="en-US" altLang="zh-CN" sz="900" i="1">
                <a:latin typeface="Arial" charset="0"/>
              </a:rPr>
              <a:t>Page </a:t>
            </a:r>
            <a:fld id="{7B3DB8AD-06EC-46F5-85A6-B85B89473458}" type="slidenum">
              <a:rPr lang="en-US" altLang="zh-CN" sz="900" i="1">
                <a:latin typeface="Arial" charset="0"/>
              </a:rPr>
              <a:pPr defTabSz="820738">
                <a:spcBef>
                  <a:spcPct val="50000"/>
                </a:spcBef>
              </a:pPr>
              <a:t>‹#›</a:t>
            </a:fld>
            <a:endParaRPr lang="en-US" altLang="zh-CN" sz="900" i="1">
              <a:latin typeface="Arial" charset="0"/>
            </a:endParaRPr>
          </a:p>
        </p:txBody>
      </p:sp>
      <p:pic>
        <p:nvPicPr>
          <p:cNvPr id="4105" name="Picture 9" descr="BWI Logo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E8E8E8"/>
              </a:clrFrom>
              <a:clrTo>
                <a:srgbClr val="E8E8E8">
                  <a:alpha val="0"/>
                </a:srgbClr>
              </a:clrTo>
            </a:clrChange>
            <a:lum bright="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504"/>
            <a:ext cx="1445419" cy="6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685800" y="12344400"/>
            <a:ext cx="4457700" cy="0"/>
          </a:xfrm>
          <a:prstGeom prst="line">
            <a:avLst/>
          </a:prstGeom>
          <a:noFill/>
          <a:ln w="15875">
            <a:solidFill>
              <a:srgbClr val="00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820341" y="12583584"/>
            <a:ext cx="4457700" cy="0"/>
          </a:xfrm>
          <a:prstGeom prst="line">
            <a:avLst/>
          </a:prstGeom>
          <a:noFill/>
          <a:ln w="15875">
            <a:solidFill>
              <a:srgbClr val="00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954881" y="12822767"/>
            <a:ext cx="4457700" cy="0"/>
          </a:xfrm>
          <a:prstGeom prst="line">
            <a:avLst/>
          </a:prstGeom>
          <a:noFill/>
          <a:ln w="15875">
            <a:solidFill>
              <a:srgbClr val="00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1089422" y="13061951"/>
            <a:ext cx="4457700" cy="0"/>
          </a:xfrm>
          <a:prstGeom prst="line">
            <a:avLst/>
          </a:prstGeom>
          <a:noFill/>
          <a:ln w="15875">
            <a:solidFill>
              <a:srgbClr val="00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 flipV="1">
            <a:off x="1359694" y="773659"/>
            <a:ext cx="5135166" cy="10583"/>
          </a:xfrm>
          <a:prstGeom prst="line">
            <a:avLst/>
          </a:prstGeom>
          <a:noFill/>
          <a:ln w="53975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iming>
    <p:tnLst>
      <p:par>
        <p:cTn id="1" dur="indefinite" restart="never" nodeType="tmRoot"/>
      </p:par>
    </p:tnLst>
  </p:timing>
  <p:txStyles>
    <p:titleStyle>
      <a:lvl1pPr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+mj-lt"/>
          <a:ea typeface="+mj-ea"/>
          <a:cs typeface="+mj-cs"/>
        </a:defRPr>
      </a:lvl1pPr>
      <a:lvl2pPr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2pPr>
      <a:lvl3pPr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3pPr>
      <a:lvl4pPr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4pPr>
      <a:lvl5pPr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5pPr>
      <a:lvl6pPr marL="457200"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6pPr>
      <a:lvl7pPr marL="914400"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7pPr>
      <a:lvl8pPr marL="1371600"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8pPr>
      <a:lvl9pPr marL="1828800" algn="r" defTabSz="88265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500">
          <a:solidFill>
            <a:srgbClr val="006699"/>
          </a:solidFill>
          <a:latin typeface="Arial" charset="0"/>
        </a:defRPr>
      </a:lvl9pPr>
    </p:titleStyle>
    <p:bodyStyle>
      <a:lvl1pPr marL="276225" indent="-276225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Monotype Sorts" pitchFamily="2" charset="2"/>
        <a:buChar char="u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61988" indent="-220663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600">
          <a:solidFill>
            <a:schemeClr val="tx1"/>
          </a:solidFill>
          <a:latin typeface="+mn-lt"/>
        </a:defRPr>
      </a:lvl2pPr>
      <a:lvl3pPr marL="1106488" indent="-22383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»"/>
        <a:defRPr sz="1600">
          <a:solidFill>
            <a:schemeClr val="tx1"/>
          </a:solidFill>
          <a:latin typeface="+mn-lt"/>
        </a:defRPr>
      </a:lvl3pPr>
      <a:lvl4pPr marL="1492250" indent="-165100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Monotype Sorts" pitchFamily="2" charset="2"/>
        <a:buChar char="u"/>
        <a:defRPr sz="1300">
          <a:solidFill>
            <a:schemeClr val="tx1"/>
          </a:solidFill>
          <a:latin typeface="+mn-lt"/>
        </a:defRPr>
      </a:lvl4pPr>
      <a:lvl5pPr marL="1936750" indent="-16668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300">
          <a:solidFill>
            <a:schemeClr val="tx1"/>
          </a:solidFill>
          <a:latin typeface="+mn-lt"/>
        </a:defRPr>
      </a:lvl5pPr>
      <a:lvl6pPr marL="2393950" indent="-16668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300">
          <a:solidFill>
            <a:schemeClr val="tx1"/>
          </a:solidFill>
          <a:latin typeface="+mn-lt"/>
        </a:defRPr>
      </a:lvl6pPr>
      <a:lvl7pPr marL="2851150" indent="-16668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300">
          <a:solidFill>
            <a:schemeClr val="tx1"/>
          </a:solidFill>
          <a:latin typeface="+mn-lt"/>
        </a:defRPr>
      </a:lvl7pPr>
      <a:lvl8pPr marL="3308350" indent="-16668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300">
          <a:solidFill>
            <a:schemeClr val="tx1"/>
          </a:solidFill>
          <a:latin typeface="+mn-lt"/>
        </a:defRPr>
      </a:lvl8pPr>
      <a:lvl9pPr marL="3765550" indent="-166688" algn="l" defTabSz="882650" rtl="0" eaLnBrk="1" fontAlgn="base" hangingPunct="1">
        <a:spcBef>
          <a:spcPct val="30000"/>
        </a:spcBef>
        <a:spcAft>
          <a:spcPct val="0"/>
        </a:spcAft>
        <a:buClr>
          <a:srgbClr val="006699"/>
        </a:buClr>
        <a:buSzPct val="75000"/>
        <a:buFont typeface="Times New Roman" pitchFamily="18" charset="0"/>
        <a:buChar char="–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0" y="792038"/>
            <a:ext cx="6688777" cy="6466417"/>
          </a:xfrm>
        </p:spPr>
        <p:txBody>
          <a:bodyPr/>
          <a:lstStyle/>
          <a:p>
            <a:r>
              <a:rPr lang="en-US" sz="1600" dirty="0" smtClean="0"/>
              <a:t>Strategy flowchart/</a:t>
            </a:r>
            <a:r>
              <a:rPr lang="zh-CN" altLang="en-US" sz="1600" dirty="0" smtClean="0"/>
              <a:t>策略流程</a:t>
            </a:r>
            <a:r>
              <a:rPr lang="en-US" sz="1600" dirty="0" smtClean="0"/>
              <a:t> – Generic Applications/</a:t>
            </a:r>
            <a:r>
              <a:rPr lang="zh-CN" altLang="en-US" sz="1600" dirty="0"/>
              <a:t>通</a:t>
            </a:r>
            <a:r>
              <a:rPr lang="zh-CN" altLang="en-US" sz="1600" dirty="0" smtClean="0"/>
              <a:t>用性应用</a:t>
            </a:r>
            <a:r>
              <a:rPr lang="en-US" sz="1400" dirty="0" smtClean="0"/>
              <a:t>Generic Assembly Plant process flowchart/</a:t>
            </a:r>
            <a:r>
              <a:rPr lang="zh-CN" altLang="en-US" sz="1400" dirty="0" smtClean="0"/>
              <a:t>通用性主机厂工艺流程</a:t>
            </a:r>
            <a:r>
              <a:rPr lang="en-US" sz="1400" dirty="0" smtClean="0"/>
              <a:t>:</a:t>
            </a:r>
          </a:p>
          <a:p>
            <a:pPr lvl="2"/>
            <a:endParaRPr lang="en-US" sz="1400" dirty="0" smtClean="0">
              <a:solidFill>
                <a:srgbClr val="000000"/>
              </a:solidFill>
              <a:latin typeface="Calibri"/>
              <a:ea typeface="Calibri"/>
            </a:endParaRPr>
          </a:p>
          <a:p>
            <a:pPr lvl="2"/>
            <a:endParaRPr lang="en-US" sz="1400" dirty="0" smtClean="0">
              <a:solidFill>
                <a:srgbClr val="000000"/>
              </a:solidFill>
              <a:latin typeface="Calibri"/>
              <a:ea typeface="Calibri"/>
            </a:endParaRP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2"/>
            <a:endParaRPr lang="en-US" sz="1700" dirty="0" smtClean="0">
              <a:solidFill>
                <a:schemeClr val="tx2"/>
              </a:solidFill>
              <a:latin typeface="Calibri"/>
              <a:ea typeface="Calibri"/>
            </a:endParaRPr>
          </a:p>
          <a:p>
            <a:pPr lvl="2"/>
            <a:endParaRPr lang="en-US" dirty="0" smtClean="0">
              <a:solidFill>
                <a:schemeClr val="tx2"/>
              </a:solidFill>
            </a:endParaRPr>
          </a:p>
          <a:p>
            <a:pPr lvl="2"/>
            <a:endParaRPr lang="en-US" dirty="0" smtClean="0"/>
          </a:p>
          <a:p>
            <a:pPr lvl="3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3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2195" y="1475118"/>
            <a:ext cx="1442768" cy="12772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DBC1200 part enters the Assembly plant preprogrammed with multiple </a:t>
            </a:r>
            <a:r>
              <a:rPr lang="en-US" sz="1100" dirty="0" err="1" smtClean="0"/>
              <a:t>cal</a:t>
            </a:r>
            <a:r>
              <a:rPr lang="en-US" sz="1100" dirty="0" smtClean="0"/>
              <a:t> blocks/</a:t>
            </a:r>
          </a:p>
          <a:p>
            <a:r>
              <a:rPr lang="en-US" sz="1100" dirty="0" smtClean="0"/>
              <a:t>DBC1200 </a:t>
            </a:r>
            <a:r>
              <a:rPr lang="zh-CN" altLang="en-US" sz="1100" dirty="0" smtClean="0"/>
              <a:t>零件进入装配工厂（内含多个标定软件）</a:t>
            </a:r>
            <a:endParaRPr lang="en-US" sz="1100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013579" y="2867954"/>
            <a:ext cx="0" cy="494371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48061" y="3532166"/>
            <a:ext cx="193103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System State “Fault Power On</a:t>
            </a:r>
          </a:p>
          <a:p>
            <a:pPr algn="ctr"/>
            <a:r>
              <a:rPr lang="en-US" sz="900" dirty="0" smtClean="0"/>
              <a:t>DTC set for </a:t>
            </a:r>
            <a:r>
              <a:rPr lang="en-US" sz="900" dirty="0" err="1" smtClean="0"/>
              <a:t>cal</a:t>
            </a:r>
            <a:r>
              <a:rPr lang="en-US" sz="900" dirty="0" smtClean="0"/>
              <a:t> block fault</a:t>
            </a:r>
          </a:p>
          <a:p>
            <a:pPr algn="ctr"/>
            <a:r>
              <a:rPr lang="en-US" sz="900" dirty="0" smtClean="0"/>
              <a:t> “Cal area NOT Flashed” DTC 158     /</a:t>
            </a:r>
            <a:r>
              <a:rPr lang="zh-CN" altLang="en-US" sz="900" dirty="0" smtClean="0"/>
              <a:t>系统状态“电源打开错误”</a:t>
            </a:r>
            <a:endParaRPr lang="en-US" altLang="zh-CN" sz="900" dirty="0" smtClean="0"/>
          </a:p>
          <a:p>
            <a:pPr algn="ctr"/>
            <a:r>
              <a:rPr lang="en-US" sz="900" dirty="0" smtClean="0"/>
              <a:t>DTC</a:t>
            </a:r>
            <a:r>
              <a:rPr lang="zh-CN" altLang="en-US" sz="900" dirty="0" smtClean="0"/>
              <a:t>设置标定区错误“标定区未刷新”显示</a:t>
            </a:r>
            <a:r>
              <a:rPr lang="en-US" altLang="zh-CN" sz="900" dirty="0" smtClean="0"/>
              <a:t>DTC 158</a:t>
            </a:r>
            <a:endParaRPr lang="en-US" sz="900" dirty="0"/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>
            <a:off x="761218" y="4485726"/>
            <a:ext cx="1" cy="993152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Box 23"/>
          <p:cNvSpPr txBox="1"/>
          <p:nvPr/>
        </p:nvSpPr>
        <p:spPr>
          <a:xfrm>
            <a:off x="100558" y="5478878"/>
            <a:ext cx="1442768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Test Tool unlocks ECU for  DID Write    / </a:t>
            </a:r>
            <a:r>
              <a:rPr lang="zh-CN" altLang="en-US" sz="1100" dirty="0" smtClean="0"/>
              <a:t>测试工具解锁</a:t>
            </a:r>
            <a:r>
              <a:rPr lang="en-US" altLang="zh-CN" sz="1100" dirty="0" smtClean="0"/>
              <a:t>ECU </a:t>
            </a:r>
            <a:r>
              <a:rPr lang="zh-CN" altLang="en-US" sz="1100" dirty="0"/>
              <a:t>准</a:t>
            </a:r>
            <a:r>
              <a:rPr lang="zh-CN" altLang="en-US" sz="1100" dirty="0" smtClean="0"/>
              <a:t>备</a:t>
            </a:r>
            <a:r>
              <a:rPr lang="en-US" altLang="zh-CN" sz="1100" dirty="0" smtClean="0"/>
              <a:t>DID </a:t>
            </a:r>
            <a:r>
              <a:rPr lang="zh-CN" altLang="en-US" sz="1100" dirty="0" smtClean="0"/>
              <a:t>写入</a:t>
            </a:r>
            <a:endParaRPr lang="en-US" sz="11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3061820" y="5119552"/>
            <a:ext cx="2010479" cy="2554545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Enter programming </a:t>
            </a:r>
            <a:r>
              <a:rPr lang="en-US" sz="1000" dirty="0"/>
              <a:t>session/ </a:t>
            </a:r>
            <a:r>
              <a:rPr lang="zh-CN" altLang="en-US" sz="1000" dirty="0"/>
              <a:t>进入刷程对</a:t>
            </a:r>
            <a:r>
              <a:rPr lang="zh-CN" altLang="en-US" sz="1000" dirty="0" smtClean="0"/>
              <a:t>话   </a:t>
            </a:r>
            <a:r>
              <a:rPr lang="en-US" sz="1000" dirty="0" smtClean="0"/>
              <a:t>$10  </a:t>
            </a:r>
            <a:r>
              <a:rPr lang="en-US" sz="1000" dirty="0" err="1" smtClean="0"/>
              <a:t>subfunction</a:t>
            </a:r>
            <a:r>
              <a:rPr lang="en-US" sz="1000" dirty="0" smtClean="0"/>
              <a:t> /</a:t>
            </a:r>
            <a:r>
              <a:rPr lang="zh-CN" altLang="en-US" sz="1000" dirty="0" smtClean="0"/>
              <a:t>子程序  </a:t>
            </a:r>
            <a:r>
              <a:rPr lang="en-US" sz="1000" dirty="0" smtClean="0"/>
              <a:t>03 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 smtClean="0"/>
              <a:t>710 02 10  03 00  00  00  00  00</a:t>
            </a:r>
          </a:p>
          <a:p>
            <a:r>
              <a:rPr lang="en-US" sz="1000" dirty="0" smtClean="0"/>
              <a:t>790 02 50  03 00  00  00  00  00</a:t>
            </a:r>
          </a:p>
          <a:p>
            <a:endParaRPr lang="en-US" sz="1000" dirty="0"/>
          </a:p>
          <a:p>
            <a:r>
              <a:rPr lang="en-US" sz="1000" dirty="0" smtClean="0"/>
              <a:t>Enter Security/</a:t>
            </a:r>
            <a:r>
              <a:rPr lang="zh-CN" altLang="en-US" sz="1000" dirty="0" smtClean="0"/>
              <a:t>进入授权 </a:t>
            </a:r>
            <a:r>
              <a:rPr lang="en-US" sz="1000" dirty="0" smtClean="0"/>
              <a:t> $27  for DID Write/</a:t>
            </a:r>
            <a:r>
              <a:rPr lang="zh-CN" altLang="en-US" sz="1000" dirty="0" smtClean="0"/>
              <a:t>用于</a:t>
            </a:r>
            <a:r>
              <a:rPr lang="en-US" altLang="zh-CN" sz="1000" dirty="0" smtClean="0"/>
              <a:t>DID </a:t>
            </a:r>
            <a:r>
              <a:rPr lang="zh-CN" altLang="en-US" sz="1000" dirty="0" smtClean="0"/>
              <a:t>写入</a:t>
            </a:r>
            <a:r>
              <a:rPr lang="en-US" sz="1000" dirty="0" smtClean="0"/>
              <a:t> – </a:t>
            </a:r>
            <a:r>
              <a:rPr lang="en-US" sz="1000" dirty="0" err="1" smtClean="0"/>
              <a:t>subfunction</a:t>
            </a:r>
            <a:r>
              <a:rPr lang="en-US" sz="1000" dirty="0" smtClean="0"/>
              <a:t> /</a:t>
            </a:r>
            <a:r>
              <a:rPr lang="zh-CN" altLang="en-US" sz="1000" dirty="0" smtClean="0"/>
              <a:t>子程序</a:t>
            </a:r>
            <a:endParaRPr lang="en-US" sz="1000" dirty="0" smtClean="0"/>
          </a:p>
          <a:p>
            <a:endParaRPr lang="en-US" sz="1000" dirty="0"/>
          </a:p>
          <a:p>
            <a:r>
              <a:rPr lang="en-US" sz="1000" dirty="0"/>
              <a:t>710 02 </a:t>
            </a:r>
            <a:r>
              <a:rPr lang="en-US" sz="1000" dirty="0" smtClean="0"/>
              <a:t>27 03 </a:t>
            </a:r>
            <a:r>
              <a:rPr lang="en-US" sz="1000" dirty="0"/>
              <a:t>00  00  00  00  00</a:t>
            </a:r>
          </a:p>
          <a:p>
            <a:r>
              <a:rPr lang="en-US" sz="1000" dirty="0"/>
              <a:t>790 </a:t>
            </a:r>
            <a:r>
              <a:rPr lang="en-US" sz="1000" dirty="0" smtClean="0"/>
              <a:t>04 67 03 </a:t>
            </a:r>
            <a:r>
              <a:rPr lang="en-US" sz="1000" dirty="0" smtClean="0">
                <a:solidFill>
                  <a:srgbClr val="FF0000"/>
                </a:solidFill>
              </a:rPr>
              <a:t>12  34  </a:t>
            </a:r>
            <a:r>
              <a:rPr lang="en-US" sz="1000" dirty="0" smtClean="0"/>
              <a:t>00  00  00</a:t>
            </a:r>
          </a:p>
          <a:p>
            <a:endParaRPr lang="en-US" sz="1000" dirty="0"/>
          </a:p>
          <a:p>
            <a:r>
              <a:rPr lang="en-US" sz="1000" dirty="0"/>
              <a:t>710 </a:t>
            </a:r>
            <a:r>
              <a:rPr lang="en-US" sz="1000" dirty="0" smtClean="0"/>
              <a:t>04 </a:t>
            </a:r>
            <a:r>
              <a:rPr lang="en-US" sz="1000" dirty="0"/>
              <a:t>27 </a:t>
            </a:r>
            <a:r>
              <a:rPr lang="en-US" sz="1000" dirty="0" smtClean="0"/>
              <a:t>04  </a:t>
            </a:r>
            <a:r>
              <a:rPr lang="en-US" sz="1000" dirty="0" smtClean="0">
                <a:solidFill>
                  <a:srgbClr val="FF0000"/>
                </a:solidFill>
              </a:rPr>
              <a:t>AA BB  </a:t>
            </a:r>
            <a:r>
              <a:rPr lang="en-US" sz="1000" dirty="0"/>
              <a:t>00  00  00</a:t>
            </a:r>
          </a:p>
          <a:p>
            <a:r>
              <a:rPr lang="en-US" sz="1000" dirty="0"/>
              <a:t>790 04 67 </a:t>
            </a:r>
            <a:r>
              <a:rPr lang="en-US" sz="1000" dirty="0" smtClean="0"/>
              <a:t>04   00  00   00  00  00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92195" y="7865792"/>
            <a:ext cx="938048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Next Page.</a:t>
            </a:r>
            <a:r>
              <a:rPr lang="zh-CN" altLang="en-US" sz="1100" dirty="0" smtClean="0"/>
              <a:t>下一页</a:t>
            </a:r>
            <a:endParaRPr lang="en-US" sz="1100" dirty="0" smtClean="0"/>
          </a:p>
        </p:txBody>
      </p:sp>
      <p:cxnSp>
        <p:nvCxnSpPr>
          <p:cNvPr id="45" name="Straight Arrow Connector 44"/>
          <p:cNvCxnSpPr>
            <a:endCxn id="33" idx="0"/>
          </p:cNvCxnSpPr>
          <p:nvPr/>
        </p:nvCxnSpPr>
        <p:spPr bwMode="auto">
          <a:xfrm>
            <a:off x="761219" y="6248319"/>
            <a:ext cx="0" cy="1617473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26" name="Oval Callout 21525"/>
          <p:cNvSpPr/>
          <p:nvPr/>
        </p:nvSpPr>
        <p:spPr bwMode="auto">
          <a:xfrm>
            <a:off x="5348524" y="5735695"/>
            <a:ext cx="1247775" cy="661129"/>
          </a:xfrm>
          <a:prstGeom prst="wedgeEllipseCallout">
            <a:avLst>
              <a:gd name="adj1" fmla="val -117607"/>
              <a:gd name="adj2" fmla="val -58431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Session control              / </a:t>
            </a:r>
            <a:r>
              <a: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会话控制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0" name="Oval Callout 59"/>
          <p:cNvSpPr/>
          <p:nvPr/>
        </p:nvSpPr>
        <p:spPr bwMode="auto">
          <a:xfrm>
            <a:off x="5382098" y="6846576"/>
            <a:ext cx="1247775" cy="741795"/>
          </a:xfrm>
          <a:prstGeom prst="wedgeEllipseCallout">
            <a:avLst>
              <a:gd name="adj1" fmla="val -117607"/>
              <a:gd name="adj2" fmla="val -58431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Security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 smtClean="0"/>
              <a:t>Access           / </a:t>
            </a:r>
            <a:r>
              <a:rPr lang="zh-CN" altLang="en-US" sz="1000" dirty="0" smtClean="0"/>
              <a:t>安全访问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374431" y="7875381"/>
            <a:ext cx="5385255" cy="861774"/>
          </a:xfrm>
          <a:prstGeom prst="rect">
            <a:avLst/>
          </a:prstGeom>
          <a:noFill/>
          <a:ln>
            <a:solidFill>
              <a:srgbClr val="006699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u="sng" dirty="0" smtClean="0"/>
              <a:t>Statement(s)/</a:t>
            </a:r>
            <a:r>
              <a:rPr lang="zh-CN" altLang="en-US" sz="1000" u="sng" dirty="0" smtClean="0"/>
              <a:t>声明</a:t>
            </a:r>
            <a:r>
              <a:rPr lang="en-US" sz="1000" dirty="0" smtClean="0"/>
              <a:t>:</a:t>
            </a:r>
          </a:p>
          <a:p>
            <a:pPr marL="228600" indent="-228600">
              <a:buFontTx/>
              <a:buAutoNum type="arabicPeriod"/>
            </a:pPr>
            <a:r>
              <a:rPr lang="en-US" sz="1000" dirty="0"/>
              <a:t>“Cal area NOT flashed” DTC158 to set by </a:t>
            </a:r>
            <a:r>
              <a:rPr lang="en-US" sz="1000" dirty="0" smtClean="0"/>
              <a:t>default / </a:t>
            </a:r>
            <a:r>
              <a:rPr lang="zh-CN" altLang="en-US" sz="1000" dirty="0" smtClean="0"/>
              <a:t>默认设置</a:t>
            </a:r>
            <a:r>
              <a:rPr lang="en-US" sz="1000" dirty="0" smtClean="0"/>
              <a:t>DTC158”</a:t>
            </a:r>
            <a:r>
              <a:rPr lang="zh-CN" altLang="en-US" sz="1000" dirty="0" smtClean="0"/>
              <a:t>标定区未刷写</a:t>
            </a:r>
            <a:r>
              <a:rPr lang="en-US" sz="1000" dirty="0" smtClean="0"/>
              <a:t>”</a:t>
            </a:r>
          </a:p>
          <a:p>
            <a:pPr marL="228600" indent="-228600">
              <a:buAutoNum type="arabicPeriod"/>
            </a:pPr>
            <a:r>
              <a:rPr lang="en-US" sz="1000" dirty="0" smtClean="0"/>
              <a:t>Can not write DID $FD00 if WSS &gt; 2 </a:t>
            </a:r>
            <a:r>
              <a:rPr lang="en-US" sz="1000" dirty="0" err="1" smtClean="0"/>
              <a:t>kph</a:t>
            </a:r>
            <a:r>
              <a:rPr lang="en-US" sz="1000" dirty="0" smtClean="0"/>
              <a:t>, NRC $22/ </a:t>
            </a:r>
            <a:r>
              <a:rPr lang="zh-CN" altLang="en-US" sz="1000" dirty="0" smtClean="0"/>
              <a:t>若轮速大于</a:t>
            </a:r>
            <a:r>
              <a:rPr lang="en-US" altLang="zh-CN" sz="1000" dirty="0" smtClean="0"/>
              <a:t>2kph</a:t>
            </a:r>
            <a:r>
              <a:rPr lang="zh-CN" altLang="en-US" sz="1000" dirty="0" smtClean="0"/>
              <a:t>则无法写入</a:t>
            </a:r>
            <a:r>
              <a:rPr lang="en-US" altLang="zh-CN" sz="1000" dirty="0" smtClean="0"/>
              <a:t>DID $FD00;</a:t>
            </a:r>
            <a:endParaRPr lang="en-US" sz="1000" dirty="0" smtClean="0"/>
          </a:p>
          <a:p>
            <a:pPr marL="228600" indent="-228600">
              <a:buAutoNum type="arabicPeriod"/>
            </a:pPr>
            <a:r>
              <a:rPr lang="en-US" sz="1000" dirty="0" smtClean="0"/>
              <a:t>Note: 2 or 4 byte seed / key is acceptable (2 byte shown)/</a:t>
            </a:r>
            <a:r>
              <a:rPr lang="zh-CN" altLang="en-US" sz="1000" dirty="0" smtClean="0"/>
              <a:t>注：种子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秘钥为</a:t>
            </a:r>
            <a:r>
              <a:rPr lang="en-US" altLang="zh-CN" sz="1000" dirty="0" smtClean="0"/>
              <a:t>2</a:t>
            </a:r>
            <a:r>
              <a:rPr lang="zh-CN" altLang="en-US" sz="1000" dirty="0" smtClean="0"/>
              <a:t>到</a:t>
            </a:r>
            <a:r>
              <a:rPr lang="en-US" altLang="zh-CN" sz="1000" dirty="0" smtClean="0"/>
              <a:t>4</a:t>
            </a:r>
            <a:r>
              <a:rPr lang="zh-CN" altLang="en-US" sz="1000" dirty="0" smtClean="0"/>
              <a:t>位均可（图中例子为</a:t>
            </a:r>
            <a:r>
              <a:rPr lang="en-US" altLang="zh-CN" sz="1000" dirty="0" smtClean="0"/>
              <a:t>2</a:t>
            </a:r>
            <a:r>
              <a:rPr lang="zh-CN" altLang="en-US" sz="1000" dirty="0" smtClean="0"/>
              <a:t>位）</a:t>
            </a:r>
            <a:endParaRPr lang="en-US" sz="10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2849592" y="1714500"/>
            <a:ext cx="2722324" cy="333376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000" dirty="0"/>
              <a:t>Active Calibration </a:t>
            </a:r>
            <a:r>
              <a:rPr lang="en-US" sz="1000" dirty="0" smtClean="0"/>
              <a:t>Block (default)/</a:t>
            </a:r>
            <a:r>
              <a:rPr lang="zh-CN" altLang="en-US" sz="1000" dirty="0" smtClean="0"/>
              <a:t>标定软件激活区</a:t>
            </a:r>
            <a:r>
              <a:rPr lang="en-US" sz="1000" dirty="0" smtClean="0"/>
              <a:t> – 16k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 bwMode="auto">
          <a:xfrm>
            <a:off x="2835222" y="2093334"/>
            <a:ext cx="2736694" cy="684361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Vehicle selectable calibration </a:t>
            </a:r>
            <a:r>
              <a:rPr lang="en-US" sz="1000" dirty="0" smtClean="0"/>
              <a:t>blocks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 smtClean="0"/>
              <a:t>Up to 7 versions max /</a:t>
            </a:r>
            <a:r>
              <a:rPr lang="zh-CN" altLang="en-US" sz="1000" dirty="0"/>
              <a:t>车</a:t>
            </a:r>
            <a:r>
              <a:rPr lang="zh-CN" altLang="en-US" sz="1000" dirty="0" smtClean="0"/>
              <a:t>辆标定软件选择区（最多</a:t>
            </a:r>
            <a:r>
              <a:rPr lang="en-US" altLang="zh-CN" sz="1000" dirty="0" smtClean="0"/>
              <a:t>7</a:t>
            </a:r>
            <a:r>
              <a:rPr lang="zh-CN" altLang="en-US" sz="1000" dirty="0" smtClean="0"/>
              <a:t>个</a:t>
            </a:r>
            <a:r>
              <a:rPr lang="zh-CN" altLang="en-US" sz="1000" dirty="0"/>
              <a:t>标</a:t>
            </a:r>
            <a:r>
              <a:rPr lang="zh-CN" altLang="en-US" sz="1000" dirty="0" smtClean="0"/>
              <a:t>定文件）</a:t>
            </a:r>
            <a:r>
              <a:rPr lang="en-US" sz="1000" dirty="0" smtClean="0"/>
              <a:t> - 96k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2849592" y="2867954"/>
            <a:ext cx="2736694" cy="1617772"/>
          </a:xfrm>
          <a:prstGeom prst="rect">
            <a:avLst/>
          </a:prstGeom>
          <a:solidFill>
            <a:srgbClr val="00B0F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/>
              <a:t>Application Software  block /                  </a:t>
            </a:r>
            <a:r>
              <a:rPr lang="zh-CN" altLang="en-US" sz="1200" dirty="0" smtClean="0"/>
              <a:t>应用软件区</a:t>
            </a:r>
            <a:endParaRPr lang="en-US" sz="1200" dirty="0" smtClean="0"/>
          </a:p>
        </p:txBody>
      </p:sp>
      <p:sp>
        <p:nvSpPr>
          <p:cNvPr id="21" name="Rectangle 20"/>
          <p:cNvSpPr/>
          <p:nvPr/>
        </p:nvSpPr>
        <p:spPr bwMode="auto">
          <a:xfrm>
            <a:off x="2835222" y="4536038"/>
            <a:ext cx="2736694" cy="2271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/>
              <a:t>Boot Software block / </a:t>
            </a:r>
            <a:r>
              <a:rPr lang="zh-CN" altLang="en-US" sz="1200" dirty="0" smtClean="0"/>
              <a:t>引导软件区</a:t>
            </a:r>
            <a:endParaRPr lang="en-US" sz="1200" dirty="0" smtClean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V="1">
            <a:off x="1831236" y="2363759"/>
            <a:ext cx="583634" cy="1"/>
          </a:xfrm>
          <a:prstGeom prst="straightConnector1">
            <a:avLst/>
          </a:prstGeom>
          <a:ln w="25400">
            <a:solidFill>
              <a:schemeClr val="tx2"/>
            </a:solidFill>
            <a:prstDash val="dash"/>
            <a:headEnd type="none" w="med" len="med"/>
            <a:tailEnd type="arrow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2665563" y="1466491"/>
            <a:ext cx="3053750" cy="33815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3683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8322" y="1475118"/>
            <a:ext cx="3031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DBC1200 Memory Architecture/</a:t>
            </a:r>
            <a:r>
              <a:rPr lang="zh-CN" altLang="en-US" sz="1200" dirty="0" smtClean="0"/>
              <a:t>存储器架构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cxnSp>
        <p:nvCxnSpPr>
          <p:cNvPr id="36" name="Straight Arrow Connector 35"/>
          <p:cNvCxnSpPr/>
          <p:nvPr/>
        </p:nvCxnSpPr>
        <p:spPr bwMode="auto">
          <a:xfrm flipV="1">
            <a:off x="1979098" y="5778959"/>
            <a:ext cx="583634" cy="1"/>
          </a:xfrm>
          <a:prstGeom prst="straightConnector1">
            <a:avLst/>
          </a:prstGeom>
          <a:ln w="25400">
            <a:solidFill>
              <a:schemeClr val="tx2"/>
            </a:solidFill>
            <a:prstDash val="dash"/>
            <a:headEnd type="none" w="med" len="med"/>
            <a:tailEnd type="arrow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0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398" y="744008"/>
            <a:ext cx="6688777" cy="6466417"/>
          </a:xfrm>
        </p:spPr>
        <p:txBody>
          <a:bodyPr/>
          <a:lstStyle/>
          <a:p>
            <a:r>
              <a:rPr lang="en-US" sz="1600" dirty="0"/>
              <a:t>Strategy flowchart/</a:t>
            </a:r>
            <a:r>
              <a:rPr lang="zh-CN" altLang="en-US" sz="1600" dirty="0"/>
              <a:t>策略流程</a:t>
            </a:r>
            <a:r>
              <a:rPr lang="en-US" sz="1600" dirty="0"/>
              <a:t> – Generic Applications/</a:t>
            </a:r>
            <a:r>
              <a:rPr lang="zh-CN" altLang="en-US" sz="1600" dirty="0"/>
              <a:t>通用性应用</a:t>
            </a:r>
            <a:r>
              <a:rPr lang="en-US" sz="1600" dirty="0" smtClean="0"/>
              <a:t>Generic Assembly Plant process flowchart:</a:t>
            </a:r>
          </a:p>
          <a:p>
            <a:pPr lvl="2"/>
            <a:endParaRPr lang="en-US" sz="1400" dirty="0" smtClean="0">
              <a:solidFill>
                <a:srgbClr val="000000"/>
              </a:solidFill>
              <a:latin typeface="Calibri"/>
              <a:ea typeface="Calibri"/>
            </a:endParaRPr>
          </a:p>
          <a:p>
            <a:pPr lvl="2"/>
            <a:endParaRPr lang="en-US" sz="1400" dirty="0" smtClean="0">
              <a:solidFill>
                <a:srgbClr val="000000"/>
              </a:solidFill>
              <a:latin typeface="Calibri"/>
              <a:ea typeface="Calibri"/>
            </a:endParaRPr>
          </a:p>
          <a:p>
            <a:pPr lvl="3"/>
            <a:endParaRPr lang="en-US" dirty="0" smtClean="0"/>
          </a:p>
          <a:p>
            <a:pPr lvl="2"/>
            <a:endParaRPr lang="en-US" sz="1700" dirty="0" smtClean="0">
              <a:solidFill>
                <a:schemeClr val="tx2"/>
              </a:solidFill>
              <a:latin typeface="Calibri"/>
              <a:ea typeface="Calibri"/>
            </a:endParaRPr>
          </a:p>
          <a:p>
            <a:pPr lvl="2"/>
            <a:endParaRPr lang="en-US" dirty="0" smtClean="0">
              <a:solidFill>
                <a:schemeClr val="tx2"/>
              </a:solidFill>
            </a:endParaRPr>
          </a:p>
          <a:p>
            <a:pPr lvl="2"/>
            <a:endParaRPr lang="en-US" dirty="0" smtClean="0"/>
          </a:p>
          <a:p>
            <a:pPr lvl="3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3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 bwMode="auto">
          <a:xfrm>
            <a:off x="1824365" y="3558648"/>
            <a:ext cx="736065" cy="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206423" y="3244677"/>
            <a:ext cx="1617942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Test Tool reprograms DID $FD00 Bytes 1-6 with SID $2E.</a:t>
            </a:r>
          </a:p>
          <a:p>
            <a:pPr algn="ctr"/>
            <a:r>
              <a:rPr lang="zh-CN" altLang="en-US" sz="1100" dirty="0"/>
              <a:t>测试工</a:t>
            </a:r>
            <a:r>
              <a:rPr lang="zh-CN" altLang="en-US" sz="1100" dirty="0" smtClean="0"/>
              <a:t>具使用</a:t>
            </a:r>
            <a:r>
              <a:rPr lang="en-US" altLang="zh-CN" sz="1100" dirty="0" smtClean="0"/>
              <a:t>SID $2E</a:t>
            </a:r>
            <a:r>
              <a:rPr lang="zh-CN" altLang="en-US" sz="1100" dirty="0" smtClean="0"/>
              <a:t>再次刷程</a:t>
            </a:r>
            <a:r>
              <a:rPr lang="en-US" altLang="zh-CN" sz="1100" dirty="0" smtClean="0"/>
              <a:t>DID $FD00 1-6</a:t>
            </a:r>
            <a:r>
              <a:rPr lang="zh-CN" altLang="en-US" sz="1100" dirty="0" smtClean="0"/>
              <a:t>字节 </a:t>
            </a:r>
            <a:endParaRPr lang="en-US" sz="1100" dirty="0" smtClean="0"/>
          </a:p>
        </p:txBody>
      </p:sp>
      <p:cxnSp>
        <p:nvCxnSpPr>
          <p:cNvPr id="21507" name="Straight Arrow Connector 21506"/>
          <p:cNvCxnSpPr/>
          <p:nvPr/>
        </p:nvCxnSpPr>
        <p:spPr bwMode="auto">
          <a:xfrm>
            <a:off x="643633" y="2631057"/>
            <a:ext cx="0" cy="61362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Box 38"/>
          <p:cNvSpPr txBox="1"/>
          <p:nvPr/>
        </p:nvSpPr>
        <p:spPr>
          <a:xfrm>
            <a:off x="2466499" y="3133953"/>
            <a:ext cx="2343626" cy="2862322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Write DID  Bytes 1-6/</a:t>
            </a:r>
            <a:r>
              <a:rPr lang="zh-CN" altLang="en-US" sz="1000" dirty="0" smtClean="0"/>
              <a:t>写入</a:t>
            </a:r>
            <a:r>
              <a:rPr lang="en-US" altLang="zh-CN" sz="1000" dirty="0" smtClean="0"/>
              <a:t>DID 1-6</a:t>
            </a:r>
            <a:r>
              <a:rPr lang="zh-CN" altLang="en-US" sz="1000" dirty="0" smtClean="0"/>
              <a:t>字节</a:t>
            </a:r>
            <a:r>
              <a:rPr lang="en-US" altLang="zh-CN" sz="1000" dirty="0" smtClean="0"/>
              <a:t>:</a:t>
            </a:r>
            <a:endParaRPr lang="en-US" sz="1000" dirty="0"/>
          </a:p>
          <a:p>
            <a:r>
              <a:rPr lang="en-US" sz="1000" dirty="0" smtClean="0"/>
              <a:t>710 07 2E </a:t>
            </a:r>
            <a:r>
              <a:rPr lang="en-US" sz="1000" dirty="0" smtClean="0">
                <a:solidFill>
                  <a:srgbClr val="FF0000"/>
                </a:solidFill>
              </a:rPr>
              <a:t>FD  00  </a:t>
            </a:r>
            <a:r>
              <a:rPr lang="en-US" sz="1000" dirty="0" smtClean="0"/>
              <a:t>11  22  33  44</a:t>
            </a:r>
          </a:p>
          <a:p>
            <a:r>
              <a:rPr lang="en-US" sz="1000" dirty="0" smtClean="0"/>
              <a:t>….  50ms</a:t>
            </a:r>
          </a:p>
          <a:p>
            <a:r>
              <a:rPr lang="en-US" sz="1000" dirty="0" smtClean="0"/>
              <a:t>790 03 7F 2E   </a:t>
            </a:r>
            <a:r>
              <a:rPr lang="en-US" sz="1000" dirty="0" smtClean="0">
                <a:solidFill>
                  <a:srgbClr val="FF0000"/>
                </a:solidFill>
              </a:rPr>
              <a:t>78 </a:t>
            </a:r>
            <a:r>
              <a:rPr lang="en-US" sz="1000" dirty="0" smtClean="0"/>
              <a:t> 00  00  00  00</a:t>
            </a:r>
          </a:p>
          <a:p>
            <a:r>
              <a:rPr lang="en-US" sz="1000" dirty="0" smtClean="0"/>
              <a:t>Note/</a:t>
            </a:r>
            <a:r>
              <a:rPr lang="zh-CN" altLang="en-US" sz="1000" dirty="0" smtClean="0"/>
              <a:t>注</a:t>
            </a:r>
            <a:r>
              <a:rPr lang="en-US" sz="1000" dirty="0" smtClean="0"/>
              <a:t>: NRC$78 until CAL flash complete</a:t>
            </a:r>
            <a:r>
              <a:rPr lang="zh-CN" altLang="en-US" sz="1000" dirty="0" smtClean="0"/>
              <a:t>（</a:t>
            </a:r>
            <a:r>
              <a:rPr lang="en-US" altLang="zh-CN" sz="1000" dirty="0" smtClean="0">
                <a:solidFill>
                  <a:srgbClr val="FF0000"/>
                </a:solidFill>
              </a:rPr>
              <a:t>2s-4s between $78_ZOTYE request</a:t>
            </a:r>
            <a:r>
              <a:rPr lang="zh-CN" altLang="en-US" sz="1000" dirty="0" smtClean="0"/>
              <a:t>）</a:t>
            </a:r>
            <a:r>
              <a:rPr lang="en-US" sz="1000" dirty="0" smtClean="0"/>
              <a:t> /</a:t>
            </a:r>
            <a:r>
              <a:rPr lang="zh-CN" altLang="en-US" sz="1000" dirty="0" smtClean="0"/>
              <a:t>发送否定响应代码</a:t>
            </a:r>
            <a:r>
              <a:rPr lang="en-US" altLang="zh-CN" sz="1000" dirty="0" smtClean="0"/>
              <a:t>$78</a:t>
            </a:r>
            <a:r>
              <a:rPr lang="zh-CN" altLang="en-US" sz="1000" dirty="0" smtClean="0"/>
              <a:t>直至刷写完成（ </a:t>
            </a:r>
            <a:r>
              <a:rPr lang="en-US" altLang="zh-CN" sz="1000" dirty="0" smtClean="0"/>
              <a:t>$78</a:t>
            </a:r>
            <a:r>
              <a:rPr lang="zh-CN" altLang="en-US" sz="1000" dirty="0"/>
              <a:t>指令之</a:t>
            </a:r>
            <a:r>
              <a:rPr lang="zh-CN" altLang="en-US" sz="1000" dirty="0" smtClean="0"/>
              <a:t>间间隔</a:t>
            </a:r>
            <a:r>
              <a:rPr lang="en-US" altLang="zh-CN" sz="1000" dirty="0" smtClean="0"/>
              <a:t>2-4</a:t>
            </a:r>
            <a:r>
              <a:rPr lang="zh-CN" altLang="en-US" sz="1000" dirty="0" smtClean="0"/>
              <a:t>秒</a:t>
            </a:r>
            <a:r>
              <a:rPr lang="en-US" altLang="zh-CN" sz="1000" dirty="0" smtClean="0"/>
              <a:t>_ZOTYE </a:t>
            </a:r>
            <a:r>
              <a:rPr lang="zh-CN" altLang="en-US" sz="1000" dirty="0" smtClean="0"/>
              <a:t>要求）</a:t>
            </a:r>
            <a:endParaRPr lang="en-US" sz="1000" dirty="0" smtClean="0"/>
          </a:p>
          <a:p>
            <a:pPr algn="ctr"/>
            <a:r>
              <a:rPr lang="en-US" sz="1000" dirty="0" smtClean="0">
                <a:solidFill>
                  <a:srgbClr val="FF0000"/>
                </a:solidFill>
              </a:rPr>
              <a:t>BWI CAL FLASH OCCURS HERE / </a:t>
            </a:r>
            <a:r>
              <a:rPr lang="zh-CN" altLang="en-US" sz="1000" dirty="0" smtClean="0">
                <a:solidFill>
                  <a:srgbClr val="FF0000"/>
                </a:solidFill>
              </a:rPr>
              <a:t>此时进行</a:t>
            </a:r>
            <a:r>
              <a:rPr lang="en-US" altLang="zh-CN" sz="1000" dirty="0" smtClean="0">
                <a:solidFill>
                  <a:srgbClr val="FF0000"/>
                </a:solidFill>
              </a:rPr>
              <a:t>BWI </a:t>
            </a:r>
            <a:r>
              <a:rPr lang="zh-CN" altLang="en-US" sz="1000" dirty="0" smtClean="0">
                <a:solidFill>
                  <a:srgbClr val="FF0000"/>
                </a:solidFill>
              </a:rPr>
              <a:t>标定软件刷写</a:t>
            </a:r>
            <a:endParaRPr lang="en-US" sz="1000" dirty="0"/>
          </a:p>
          <a:p>
            <a:r>
              <a:rPr lang="en-US" sz="1000" dirty="0" smtClean="0"/>
              <a:t>Send Positive response when CAL flash is complete / </a:t>
            </a:r>
            <a:r>
              <a:rPr lang="zh-CN" altLang="en-US" sz="1000" dirty="0" smtClean="0"/>
              <a:t>标定软件刷写完成</a:t>
            </a:r>
            <a:r>
              <a:rPr lang="zh-CN" altLang="en-US" sz="1000" dirty="0"/>
              <a:t>时</a:t>
            </a:r>
            <a:r>
              <a:rPr lang="zh-CN" altLang="en-US" sz="1000" dirty="0" smtClean="0"/>
              <a:t>发送肯定响应</a:t>
            </a:r>
            <a:r>
              <a:rPr lang="en-US" sz="1000" dirty="0" smtClean="0"/>
              <a:t>:</a:t>
            </a:r>
          </a:p>
          <a:p>
            <a:r>
              <a:rPr lang="en-US" sz="1000" dirty="0" smtClean="0"/>
              <a:t>790 03 6E </a:t>
            </a:r>
            <a:r>
              <a:rPr lang="en-US" sz="1000" dirty="0" smtClean="0">
                <a:solidFill>
                  <a:srgbClr val="FF0000"/>
                </a:solidFill>
              </a:rPr>
              <a:t>FD  00  </a:t>
            </a:r>
            <a:r>
              <a:rPr lang="en-US" sz="1000" dirty="0"/>
              <a:t>11  22  33  </a:t>
            </a:r>
            <a:r>
              <a:rPr lang="en-US" sz="1000" dirty="0" smtClean="0"/>
              <a:t>44</a:t>
            </a:r>
          </a:p>
          <a:p>
            <a:r>
              <a:rPr lang="en-US" sz="1000" dirty="0" smtClean="0"/>
              <a:t>….</a:t>
            </a:r>
          </a:p>
          <a:p>
            <a:r>
              <a:rPr lang="en-US" sz="1000" dirty="0" err="1" smtClean="0"/>
              <a:t>Ecu</a:t>
            </a:r>
            <a:r>
              <a:rPr lang="en-US" sz="1000" dirty="0" smtClean="0"/>
              <a:t> Resets here / ECU </a:t>
            </a:r>
            <a:r>
              <a:rPr lang="zh-CN" altLang="en-US" sz="1000" dirty="0" smtClean="0"/>
              <a:t>重启</a:t>
            </a:r>
            <a:r>
              <a:rPr lang="en-US" sz="1000" dirty="0" smtClean="0"/>
              <a:t> – No IVC/ESC</a:t>
            </a:r>
            <a:r>
              <a:rPr lang="zh-CN" altLang="en-US" sz="1000" dirty="0" smtClean="0"/>
              <a:t>失去</a:t>
            </a:r>
            <a:r>
              <a:rPr lang="en-US" altLang="zh-CN" sz="1000" dirty="0" smtClean="0"/>
              <a:t>CAN</a:t>
            </a:r>
            <a:r>
              <a:rPr lang="zh-CN" altLang="en-US" sz="1000" dirty="0" smtClean="0"/>
              <a:t>通讯</a:t>
            </a:r>
            <a:r>
              <a:rPr lang="en-US" sz="1000" dirty="0" smtClean="0"/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240" y="7048112"/>
            <a:ext cx="6289860" cy="1785104"/>
          </a:xfrm>
          <a:prstGeom prst="rect">
            <a:avLst/>
          </a:prstGeom>
          <a:noFill/>
          <a:ln>
            <a:solidFill>
              <a:srgbClr val="006699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000" u="sng" dirty="0" smtClean="0"/>
              <a:t>Statement(s)/</a:t>
            </a:r>
            <a:r>
              <a:rPr lang="zh-CN" altLang="en-US" sz="1000" u="sng" dirty="0" smtClean="0"/>
              <a:t>声明</a:t>
            </a:r>
            <a:r>
              <a:rPr lang="en-US" sz="1000" dirty="0" smtClean="0"/>
              <a:t>:</a:t>
            </a:r>
          </a:p>
          <a:p>
            <a:pPr marL="228600" indent="-228600">
              <a:buAutoNum type="arabicPeriod"/>
            </a:pPr>
            <a:r>
              <a:rPr lang="en-US" sz="1000" dirty="0" smtClean="0"/>
              <a:t>DID write / CAL flash may take up to 3 seconds / DID </a:t>
            </a:r>
            <a:r>
              <a:rPr lang="zh-CN" altLang="en-US" sz="1000" dirty="0" smtClean="0"/>
              <a:t>写入</a:t>
            </a:r>
            <a:r>
              <a:rPr lang="en-US" altLang="zh-CN" sz="1000" dirty="0" smtClean="0"/>
              <a:t>/</a:t>
            </a:r>
            <a:r>
              <a:rPr lang="zh-CN" altLang="en-US" sz="1000" dirty="0" smtClean="0"/>
              <a:t>标定软件刷写需要约</a:t>
            </a:r>
            <a:r>
              <a:rPr lang="en-US" altLang="zh-CN" sz="1000" dirty="0" smtClean="0"/>
              <a:t>3</a:t>
            </a:r>
            <a:r>
              <a:rPr lang="zh-CN" altLang="en-US" sz="1000" dirty="0" smtClean="0"/>
              <a:t>秒钟；</a:t>
            </a:r>
            <a:endParaRPr lang="en-US" sz="1000" dirty="0" smtClean="0"/>
          </a:p>
          <a:p>
            <a:pPr marL="228600" indent="-228600">
              <a:buAutoNum type="arabicPeriod"/>
            </a:pPr>
            <a:r>
              <a:rPr lang="en-US" sz="1000" dirty="0" smtClean="0"/>
              <a:t>Programming failure may require BWI to recover part.    NRC $72 will be sent in negative response message          / </a:t>
            </a:r>
            <a:r>
              <a:rPr lang="zh-CN" altLang="en-US" sz="1000" dirty="0" smtClean="0"/>
              <a:t>刷程失败可能需要</a:t>
            </a:r>
            <a:r>
              <a:rPr lang="en-US" altLang="zh-CN" sz="1000" dirty="0" smtClean="0"/>
              <a:t>BWI</a:t>
            </a:r>
            <a:r>
              <a:rPr lang="zh-CN" altLang="en-US" sz="1000" dirty="0" smtClean="0"/>
              <a:t>回收零件，此时否定响应指令</a:t>
            </a:r>
            <a:r>
              <a:rPr lang="en-US" altLang="zh-CN" sz="1000" dirty="0" smtClean="0"/>
              <a:t>$72</a:t>
            </a:r>
            <a:r>
              <a:rPr lang="zh-CN" altLang="en-US" sz="1000" dirty="0" smtClean="0"/>
              <a:t>将在信号列表中持续发送</a:t>
            </a:r>
            <a:r>
              <a:rPr lang="zh-CN" altLang="en-US" sz="1000" dirty="0"/>
              <a:t>。</a:t>
            </a:r>
            <a:endParaRPr lang="en-US" sz="1000" dirty="0" smtClean="0"/>
          </a:p>
          <a:p>
            <a:pPr marL="228600" indent="-228600">
              <a:buAutoNum type="arabicPeriod" startAt="4"/>
            </a:pPr>
            <a:r>
              <a:rPr lang="en-US" sz="1000" dirty="0" smtClean="0"/>
              <a:t>After ~ 3 sec CAL Flash ECU will then reset / 3 </a:t>
            </a:r>
            <a:r>
              <a:rPr lang="zh-CN" altLang="en-US" sz="1000" dirty="0" smtClean="0"/>
              <a:t>秒刷写完成后</a:t>
            </a:r>
            <a:r>
              <a:rPr lang="en-US" altLang="zh-CN" sz="1000" dirty="0" smtClean="0"/>
              <a:t>ECU </a:t>
            </a:r>
            <a:r>
              <a:rPr lang="zh-CN" altLang="en-US" sz="1000" dirty="0" smtClean="0"/>
              <a:t>立即重启；</a:t>
            </a:r>
            <a:endParaRPr lang="en-US" sz="1000" dirty="0" smtClean="0"/>
          </a:p>
          <a:p>
            <a:pPr marL="228600" indent="-228600">
              <a:buAutoNum type="arabicPeriod" startAt="4"/>
            </a:pPr>
            <a:r>
              <a:rPr lang="en-US" sz="1000" dirty="0" smtClean="0"/>
              <a:t>DID Data Validation needs to be worked out.    </a:t>
            </a:r>
            <a:r>
              <a:rPr lang="en-US" sz="1000" dirty="0" err="1" smtClean="0"/>
              <a:t>i.e</a:t>
            </a:r>
            <a:r>
              <a:rPr lang="en-US" sz="1000" dirty="0" smtClean="0"/>
              <a:t> DID Content incorrect/</a:t>
            </a:r>
            <a:r>
              <a:rPr lang="zh-CN" altLang="en-US" sz="1000" dirty="0" smtClean="0"/>
              <a:t>需对</a:t>
            </a:r>
            <a:r>
              <a:rPr lang="en-US" altLang="zh-CN" sz="1000" dirty="0" smtClean="0"/>
              <a:t>DID </a:t>
            </a:r>
            <a:r>
              <a:rPr lang="zh-CN" altLang="en-US" sz="1000" dirty="0" smtClean="0"/>
              <a:t>数据的确认进行计算。</a:t>
            </a:r>
            <a:endParaRPr lang="en-US" sz="1000" dirty="0" smtClean="0"/>
          </a:p>
          <a:p>
            <a:r>
              <a:rPr lang="en-US" sz="1000" dirty="0" smtClean="0"/>
              <a:t>6.   Test tool must send $3E during entire CAL Flash Process/</a:t>
            </a:r>
            <a:r>
              <a:rPr lang="zh-CN" altLang="en-US" sz="1000" dirty="0" smtClean="0"/>
              <a:t>在标定软件刷写期间测试工具需发送 </a:t>
            </a:r>
            <a:endParaRPr lang="en-US" altLang="zh-CN" sz="1000" dirty="0" smtClean="0"/>
          </a:p>
          <a:p>
            <a:r>
              <a:rPr lang="en-US" altLang="zh-CN" sz="1000" dirty="0"/>
              <a:t> </a:t>
            </a:r>
            <a:r>
              <a:rPr lang="en-US" altLang="zh-CN" sz="1000" dirty="0" smtClean="0"/>
              <a:t>      $3E</a:t>
            </a:r>
            <a:r>
              <a:rPr lang="zh-CN" altLang="en-US" sz="1000" dirty="0" smtClean="0"/>
              <a:t>指令</a:t>
            </a:r>
            <a:endParaRPr lang="en-US" sz="1000" dirty="0" smtClean="0"/>
          </a:p>
          <a:p>
            <a:pPr marL="228600" indent="-228600">
              <a:buFontTx/>
              <a:buAutoNum type="arabicPeriod" startAt="7"/>
            </a:pPr>
            <a:r>
              <a:rPr lang="en-US" sz="1000" dirty="0" smtClean="0"/>
              <a:t>NRC </a:t>
            </a:r>
            <a:r>
              <a:rPr lang="en-US" sz="1000" dirty="0"/>
              <a:t>for incorrect DID Content </a:t>
            </a:r>
            <a:r>
              <a:rPr lang="en-US" sz="1000" dirty="0" smtClean="0"/>
              <a:t>data will be </a:t>
            </a:r>
            <a:r>
              <a:rPr lang="en-US" sz="1000" dirty="0"/>
              <a:t>$31 </a:t>
            </a:r>
            <a:r>
              <a:rPr lang="en-US" sz="1000" dirty="0" smtClean="0"/>
              <a:t>ROOR./</a:t>
            </a:r>
            <a:r>
              <a:rPr lang="zh-CN" altLang="en-US" sz="1000" dirty="0"/>
              <a:t>对不正确的</a:t>
            </a:r>
            <a:r>
              <a:rPr lang="en-US" sz="1000" dirty="0"/>
              <a:t>DID</a:t>
            </a:r>
            <a:r>
              <a:rPr lang="zh-CN" altLang="en-US" sz="1000" dirty="0"/>
              <a:t>数据的否定响应为</a:t>
            </a:r>
            <a:r>
              <a:rPr lang="en-US" sz="1000" dirty="0"/>
              <a:t>$31 ROOR (</a:t>
            </a:r>
            <a:r>
              <a:rPr lang="en-US" sz="1000" dirty="0" err="1" smtClean="0"/>
              <a:t>requestOutOfRange</a:t>
            </a:r>
            <a:r>
              <a:rPr lang="en-US" sz="1000" dirty="0" smtClean="0"/>
              <a:t>/</a:t>
            </a:r>
            <a:r>
              <a:rPr lang="zh-CN" altLang="en-US" sz="1000" dirty="0" smtClean="0"/>
              <a:t>请求超出范围</a:t>
            </a:r>
            <a:r>
              <a:rPr lang="en-US" sz="1000" dirty="0" smtClean="0"/>
              <a:t>)</a:t>
            </a:r>
          </a:p>
          <a:p>
            <a:pPr marL="228600" indent="-228600">
              <a:buFontTx/>
              <a:buAutoNum type="arabicPeriod" startAt="7"/>
            </a:pPr>
            <a:r>
              <a:rPr lang="en-US" sz="1000" dirty="0"/>
              <a:t>Test Tool tests for correct CAL in ACTIVE </a:t>
            </a:r>
            <a:r>
              <a:rPr lang="en-US" sz="1000" dirty="0" smtClean="0"/>
              <a:t>block/</a:t>
            </a:r>
            <a:r>
              <a:rPr lang="zh-CN" altLang="en-US" sz="1000" dirty="0" smtClean="0"/>
              <a:t>测试工具对激活区的标定文件进行确认；</a:t>
            </a:r>
            <a:endParaRPr lang="en-US" sz="1000" dirty="0"/>
          </a:p>
        </p:txBody>
      </p:sp>
      <p:sp>
        <p:nvSpPr>
          <p:cNvPr id="35" name="Oval Callout 34"/>
          <p:cNvSpPr/>
          <p:nvPr/>
        </p:nvSpPr>
        <p:spPr bwMode="auto">
          <a:xfrm>
            <a:off x="4991100" y="3133953"/>
            <a:ext cx="1743075" cy="1153793"/>
          </a:xfrm>
          <a:prstGeom prst="wedgeEllipseCallout">
            <a:avLst>
              <a:gd name="adj1" fmla="val -80682"/>
              <a:gd name="adj2" fmla="val -1633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DID Write </a:t>
            </a:r>
            <a:r>
              <a:rPr lang="en-US" sz="800" dirty="0" smtClean="0"/>
              <a:t>&amp;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Negative Response $78/DID</a:t>
            </a:r>
            <a:r>
              <a:rPr kumimoji="0" lang="zh-CN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写入</a:t>
            </a:r>
            <a:r>
              <a:rPr kumimoji="0" lang="en-US" altLang="zh-CN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否定响应</a:t>
            </a:r>
            <a:r>
              <a:rPr kumimoji="0" lang="en-US" altLang="zh-CN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$78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700" dirty="0" smtClean="0"/>
              <a:t>Note: 1</a:t>
            </a:r>
            <a:r>
              <a:rPr lang="en-US" sz="700" baseline="30000" dirty="0" smtClean="0"/>
              <a:t>st</a:t>
            </a:r>
            <a:r>
              <a:rPr lang="en-US" sz="700" dirty="0" smtClean="0"/>
              <a:t> 4 bytes only shown for simplicity  / </a:t>
            </a:r>
            <a:r>
              <a:rPr lang="zh-CN" altLang="en-US" sz="700" dirty="0" smtClean="0"/>
              <a:t>注：例子中仅简写了前四个字节</a:t>
            </a: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06907" y="5645638"/>
            <a:ext cx="1617458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Post Flash of CAL</a:t>
            </a:r>
          </a:p>
          <a:p>
            <a:pPr algn="ctr"/>
            <a:r>
              <a:rPr lang="en-US" sz="1000" dirty="0" smtClean="0"/>
              <a:t>Test Tool Queries for Active “BWI CAL” Part Number to confirm correct Flash / </a:t>
            </a:r>
            <a:r>
              <a:rPr lang="zh-CN" altLang="en-US" sz="1000" dirty="0" smtClean="0"/>
              <a:t>测试工具快速刷写 标定软件激活区的“</a:t>
            </a:r>
            <a:r>
              <a:rPr lang="en-US" altLang="zh-CN" sz="1000" dirty="0" smtClean="0"/>
              <a:t>BWI</a:t>
            </a:r>
            <a:r>
              <a:rPr lang="zh-CN" altLang="en-US" sz="1000" dirty="0" smtClean="0"/>
              <a:t>标定”文件件号以确认刷程正确性。</a:t>
            </a:r>
            <a:endParaRPr lang="en-US" sz="1000" dirty="0" smtClean="0"/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931170" y="4352673"/>
            <a:ext cx="0" cy="41281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2466499" y="6128087"/>
            <a:ext cx="2343626" cy="1015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Test Tool Query for CAL Part Number Active/ </a:t>
            </a:r>
            <a:r>
              <a:rPr lang="zh-CN" altLang="en-US" sz="1000" dirty="0" smtClean="0"/>
              <a:t>测试工具确认标定件号激活</a:t>
            </a:r>
            <a:endParaRPr lang="en-US" sz="1000" dirty="0" smtClean="0"/>
          </a:p>
          <a:p>
            <a:endParaRPr lang="en-US" sz="1000" dirty="0"/>
          </a:p>
          <a:p>
            <a:r>
              <a:rPr lang="en-US" sz="1000" dirty="0" smtClean="0"/>
              <a:t>710 03 22 30  </a:t>
            </a:r>
            <a:r>
              <a:rPr lang="en-US" sz="1000" dirty="0"/>
              <a:t>0</a:t>
            </a:r>
            <a:r>
              <a:rPr lang="en-US" sz="1000" dirty="0" smtClean="0"/>
              <a:t>4  00  00  00  00</a:t>
            </a:r>
          </a:p>
          <a:p>
            <a:r>
              <a:rPr lang="en-US" sz="1000" dirty="0" smtClean="0"/>
              <a:t>…</a:t>
            </a:r>
          </a:p>
          <a:p>
            <a:r>
              <a:rPr lang="en-US" sz="1000" dirty="0" smtClean="0"/>
              <a:t>790 07 62 30  04  </a:t>
            </a:r>
            <a:r>
              <a:rPr lang="en-US" sz="1000" dirty="0"/>
              <a:t>11  22  33  </a:t>
            </a:r>
            <a:r>
              <a:rPr lang="en-US" sz="1000" dirty="0" smtClean="0"/>
              <a:t>44</a:t>
            </a:r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225239" y="4765489"/>
            <a:ext cx="1617458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ECU Resets after</a:t>
            </a:r>
          </a:p>
          <a:p>
            <a:pPr algn="ctr"/>
            <a:r>
              <a:rPr lang="en-US" sz="1100" dirty="0" smtClean="0"/>
              <a:t> ~ 3 seconds                    3</a:t>
            </a:r>
            <a:r>
              <a:rPr lang="zh-CN" altLang="en-US" sz="1100" dirty="0" smtClean="0"/>
              <a:t>秒钟后</a:t>
            </a:r>
            <a:r>
              <a:rPr lang="en-US" altLang="zh-CN" sz="1100" dirty="0" smtClean="0"/>
              <a:t>ECU </a:t>
            </a:r>
            <a:r>
              <a:rPr lang="zh-CN" altLang="en-US" sz="1100" dirty="0" smtClean="0"/>
              <a:t>重启</a:t>
            </a:r>
            <a:endParaRPr lang="en-US" sz="1100" dirty="0" smtClean="0"/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931654" y="5365653"/>
            <a:ext cx="484" cy="244848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Oval Callout 42"/>
          <p:cNvSpPr/>
          <p:nvPr/>
        </p:nvSpPr>
        <p:spPr bwMode="auto">
          <a:xfrm>
            <a:off x="4676776" y="4565114"/>
            <a:ext cx="2114549" cy="1226383"/>
          </a:xfrm>
          <a:prstGeom prst="wedgeEllipseCallout">
            <a:avLst>
              <a:gd name="adj1" fmla="val -64188"/>
              <a:gd name="adj2" fmla="val 7851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 smtClean="0"/>
              <a:t>ECU sends Positive Response when flash completes/</a:t>
            </a:r>
            <a:r>
              <a:rPr lang="zh-CN" altLang="en-US" sz="1000" dirty="0" smtClean="0"/>
              <a:t>刷写完成时</a:t>
            </a:r>
            <a:r>
              <a:rPr lang="en-US" altLang="zh-CN" sz="1000" dirty="0" smtClean="0"/>
              <a:t>ECU </a:t>
            </a:r>
            <a:r>
              <a:rPr lang="zh-CN" altLang="en-US" sz="1000" dirty="0" smtClean="0"/>
              <a:t>发送肯定响应</a:t>
            </a:r>
            <a:endParaRPr lang="en-US" sz="1000" dirty="0" smtClean="0"/>
          </a:p>
          <a:p>
            <a:pPr algn="ctr"/>
            <a:r>
              <a:rPr lang="en-US" sz="700" dirty="0"/>
              <a:t>Note: 1st 4 bytes only shown for </a:t>
            </a:r>
            <a:r>
              <a:rPr lang="en-US" sz="700" dirty="0" err="1"/>
              <a:t>simplicitysimplicity</a:t>
            </a:r>
            <a:r>
              <a:rPr lang="en-US" sz="700" dirty="0"/>
              <a:t>  / </a:t>
            </a:r>
            <a:r>
              <a:rPr lang="zh-CN" altLang="en-US" sz="700" dirty="0"/>
              <a:t>注：例子中仅简写了前四个字节</a:t>
            </a:r>
            <a:endParaRPr lang="en-US" sz="700" dirty="0"/>
          </a:p>
          <a:p>
            <a:pPr algn="ctr"/>
            <a:endParaRPr lang="en-US" sz="800" dirty="0"/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4" name="Straight Arrow Connector 43"/>
          <p:cNvCxnSpPr>
            <a:endCxn id="40" idx="1"/>
          </p:cNvCxnSpPr>
          <p:nvPr/>
        </p:nvCxnSpPr>
        <p:spPr bwMode="auto">
          <a:xfrm>
            <a:off x="1834068" y="6558974"/>
            <a:ext cx="632431" cy="76945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Callout 44"/>
          <p:cNvSpPr/>
          <p:nvPr/>
        </p:nvSpPr>
        <p:spPr bwMode="auto">
          <a:xfrm>
            <a:off x="5000625" y="5983084"/>
            <a:ext cx="1857375" cy="988828"/>
          </a:xfrm>
          <a:prstGeom prst="wedgeEllipseCallout">
            <a:avLst>
              <a:gd name="adj1" fmla="val -85211"/>
              <a:gd name="adj2" fmla="val -271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 smtClean="0"/>
              <a:t>DID Read for CAL part Number /DID </a:t>
            </a:r>
            <a:r>
              <a:rPr lang="zh-CN" altLang="en-US" sz="1000" dirty="0" smtClean="0"/>
              <a:t>读取标定文件零件号</a:t>
            </a:r>
            <a:endParaRPr lang="en-US" sz="1000" dirty="0" smtClean="0"/>
          </a:p>
          <a:p>
            <a:pPr algn="ctr"/>
            <a:r>
              <a:rPr lang="en-US" sz="1000" dirty="0"/>
              <a:t>Note: 1</a:t>
            </a:r>
            <a:r>
              <a:rPr lang="en-US" sz="1000" baseline="30000" dirty="0"/>
              <a:t>st</a:t>
            </a:r>
            <a:r>
              <a:rPr lang="en-US" sz="1000" dirty="0"/>
              <a:t> 4 bytes only shown for simplicity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1909936" y="1923660"/>
            <a:ext cx="36576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59243"/>
              </p:ext>
            </p:extLst>
          </p:nvPr>
        </p:nvGraphicFramePr>
        <p:xfrm>
          <a:off x="1109177" y="1343220"/>
          <a:ext cx="5453547" cy="17321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748"/>
                <a:gridCol w="3529368"/>
                <a:gridCol w="966431"/>
              </a:tblGrid>
              <a:tr h="187782">
                <a:tc gridSpan="3"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effectLst/>
                        </a:rPr>
                        <a:t>Vehicle Calibration Selection/</a:t>
                      </a:r>
                      <a:r>
                        <a:rPr lang="zh-CN" altLang="en-US" sz="800" dirty="0" smtClean="0">
                          <a:effectLst/>
                        </a:rPr>
                        <a:t>车辆标定选择</a:t>
                      </a:r>
                      <a:r>
                        <a:rPr lang="en-US" sz="800" dirty="0" smtClean="0">
                          <a:effectLst/>
                        </a:rPr>
                        <a:t> DID $FD00  (Read/Write </a:t>
                      </a:r>
                      <a:r>
                        <a:rPr lang="zh-CN" altLang="en-US" sz="800" dirty="0" smtClean="0">
                          <a:effectLst/>
                        </a:rPr>
                        <a:t>读写</a:t>
                      </a:r>
                      <a:r>
                        <a:rPr lang="en-US" sz="800" dirty="0" smtClean="0">
                          <a:effectLst/>
                        </a:rPr>
                        <a:t>)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DID Byte </a:t>
                      </a:r>
                      <a:r>
                        <a:rPr lang="en-GB" sz="800" dirty="0" smtClean="0">
                          <a:effectLst/>
                        </a:rPr>
                        <a:t>Index /</a:t>
                      </a:r>
                      <a:r>
                        <a:rPr lang="en-GB" sz="800" baseline="0" dirty="0" smtClean="0">
                          <a:effectLst/>
                        </a:rPr>
                        <a:t> DID </a:t>
                      </a:r>
                      <a:r>
                        <a:rPr lang="zh-CN" altLang="en-US" sz="800" baseline="0" dirty="0" smtClean="0">
                          <a:effectLst/>
                        </a:rPr>
                        <a:t>字节索引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743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</a:rPr>
                        <a:t>Definition </a:t>
                      </a:r>
                      <a:r>
                        <a:rPr lang="en-US" sz="800" dirty="0" smtClean="0">
                          <a:effectLst/>
                        </a:rPr>
                        <a:t>/</a:t>
                      </a:r>
                      <a:r>
                        <a:rPr lang="en-US" sz="800" baseline="0" dirty="0" smtClean="0">
                          <a:effectLst/>
                        </a:rPr>
                        <a:t> </a:t>
                      </a:r>
                      <a:r>
                        <a:rPr lang="zh-CN" altLang="en-US" sz="800" baseline="0" dirty="0" smtClean="0">
                          <a:effectLst/>
                        </a:rPr>
                        <a:t>定义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432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</a:rPr>
                        <a:t>Display /</a:t>
                      </a:r>
                      <a:r>
                        <a:rPr lang="zh-CN" altLang="en-US" sz="800" dirty="0" smtClean="0">
                          <a:effectLst/>
                        </a:rPr>
                        <a:t>显示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#1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algn="l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ECU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Calibration Selection Part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Number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 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 SB</a:t>
                      </a:r>
                      <a:endParaRPr lang="en-US" sz="800" dirty="0">
                        <a:effectLst/>
                        <a:latin typeface="Arial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#2</a:t>
                      </a:r>
                      <a:endParaRPr lang="en-US" sz="8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Part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Number 2</a:t>
                      </a:r>
                      <a:r>
                        <a:rPr lang="en-US" sz="800" baseline="300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</a:t>
                      </a:r>
                      <a:r>
                        <a:rPr lang="en-US" altLang="zh-CN" sz="800" baseline="300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#3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2</a:t>
                      </a:r>
                      <a:r>
                        <a:rPr lang="en-US" sz="800" baseline="300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</a:t>
                      </a:r>
                      <a:r>
                        <a:rPr lang="en-US" altLang="zh-CN" sz="800" baseline="300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L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#4</a:t>
                      </a:r>
                      <a:endParaRPr lang="en-US" sz="8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#5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Suffix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1MSB/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刷程选择件号尾缀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1MSB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ASCII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码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#6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Suffix 2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刷程选择件号尾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缀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2LSB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ASCII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码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06907" y="2220343"/>
            <a:ext cx="878943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Last  Page./</a:t>
            </a:r>
            <a:r>
              <a:rPr lang="zh-CN" altLang="en-US" sz="1100" dirty="0" smtClean="0"/>
              <a:t>上一页</a:t>
            </a:r>
            <a:endParaRPr lang="en-US" sz="1100" dirty="0" smtClean="0"/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1824365" y="5378170"/>
            <a:ext cx="642134" cy="267468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07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5250" y="1076325"/>
            <a:ext cx="6593527" cy="6469221"/>
          </a:xfrm>
        </p:spPr>
        <p:txBody>
          <a:bodyPr/>
          <a:lstStyle/>
          <a:p>
            <a:r>
              <a:rPr lang="en-US" sz="1600" dirty="0"/>
              <a:t>Strategy flowchart/</a:t>
            </a:r>
            <a:r>
              <a:rPr lang="zh-CN" altLang="en-US" sz="1600" dirty="0"/>
              <a:t>策略流程</a:t>
            </a:r>
            <a:r>
              <a:rPr lang="en-US" sz="1600" dirty="0"/>
              <a:t> – Generic Applications/</a:t>
            </a:r>
            <a:r>
              <a:rPr lang="zh-CN" altLang="en-US" sz="1600" dirty="0"/>
              <a:t>通用性应用</a:t>
            </a:r>
            <a:r>
              <a:rPr lang="en-US" sz="1600" dirty="0" smtClean="0"/>
              <a:t>Vehicle Calibration Select DID $FD00 as defined for Customers            /</a:t>
            </a:r>
            <a:r>
              <a:rPr lang="zh-CN" altLang="en-US" sz="1600" dirty="0" smtClean="0"/>
              <a:t>车辆标定数据选择 </a:t>
            </a:r>
            <a:r>
              <a:rPr lang="en-US" altLang="zh-CN" sz="1600" dirty="0" smtClean="0"/>
              <a:t>DID $FD00 </a:t>
            </a:r>
            <a:r>
              <a:rPr lang="zh-CN" altLang="en-US" sz="1600" dirty="0" smtClean="0"/>
              <a:t>根据客户定义</a:t>
            </a:r>
            <a:endParaRPr lang="en-US" sz="1600" dirty="0" smtClean="0"/>
          </a:p>
          <a:p>
            <a:pPr lvl="2"/>
            <a:endParaRPr lang="en-US" sz="1400" dirty="0">
              <a:solidFill>
                <a:srgbClr val="000000"/>
              </a:solidFill>
              <a:latin typeface="Calibri"/>
              <a:ea typeface="Calibri"/>
            </a:endParaRPr>
          </a:p>
          <a:p>
            <a:pPr lvl="2"/>
            <a:endParaRPr lang="en-US" sz="1400" dirty="0" smtClean="0">
              <a:solidFill>
                <a:srgbClr val="000000"/>
              </a:solidFill>
              <a:latin typeface="Calibri"/>
              <a:ea typeface="Calibri"/>
            </a:endParaRP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sz="1700" dirty="0">
              <a:solidFill>
                <a:schemeClr val="tx2"/>
              </a:solidFill>
              <a:latin typeface="Calibri"/>
              <a:ea typeface="Calibri"/>
            </a:endParaRPr>
          </a:p>
          <a:p>
            <a:pPr lvl="2"/>
            <a:endParaRPr lang="en-US" dirty="0">
              <a:solidFill>
                <a:schemeClr val="tx2"/>
              </a:solidFill>
            </a:endParaRPr>
          </a:p>
          <a:p>
            <a:pPr lvl="2"/>
            <a:endParaRPr lang="en-US" dirty="0" smtClean="0"/>
          </a:p>
          <a:p>
            <a:pPr lvl="3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3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8062" y="3940800"/>
            <a:ext cx="5918937" cy="1815882"/>
          </a:xfrm>
          <a:prstGeom prst="rect">
            <a:avLst/>
          </a:prstGeom>
          <a:noFill/>
          <a:ln>
            <a:solidFill>
              <a:srgbClr val="006699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Statement(s)/</a:t>
            </a:r>
            <a:r>
              <a:rPr lang="zh-CN" altLang="en-US" sz="1600" u="sng" dirty="0" smtClean="0"/>
              <a:t>声明</a:t>
            </a:r>
            <a:r>
              <a:rPr lang="en-US" sz="1200" dirty="0" smtClean="0"/>
              <a:t>:</a:t>
            </a:r>
          </a:p>
          <a:p>
            <a:pPr marL="228600" indent="-228600">
              <a:buAutoNum type="arabicPeriod"/>
            </a:pPr>
            <a:r>
              <a:rPr lang="en-US" sz="1200" dirty="0" smtClean="0"/>
              <a:t>A 4 byte seed / key is possible. Application Software only (boot can not support)/</a:t>
            </a:r>
            <a:r>
              <a:rPr lang="zh-CN" altLang="en-US" sz="1200" dirty="0" smtClean="0"/>
              <a:t>可以做</a:t>
            </a:r>
            <a:r>
              <a:rPr lang="en-US" sz="1200" dirty="0" smtClean="0"/>
              <a:t>4</a:t>
            </a:r>
            <a:r>
              <a:rPr lang="zh-CN" altLang="en-US" sz="1200" dirty="0" smtClean="0"/>
              <a:t>字节的 种子</a:t>
            </a:r>
            <a:r>
              <a:rPr lang="en-US" altLang="zh-CN" sz="1200" dirty="0" smtClean="0"/>
              <a:t>/</a:t>
            </a:r>
            <a:r>
              <a:rPr lang="zh-CN" altLang="en-US" sz="1200" dirty="0" smtClean="0"/>
              <a:t>秘钥，但仅限于应用层软件（引导层软件不支持）</a:t>
            </a:r>
            <a:endParaRPr lang="en-US" sz="1200" dirty="0" smtClean="0"/>
          </a:p>
          <a:p>
            <a:pPr marL="228600" indent="-228600">
              <a:buAutoNum type="arabicPeriod"/>
            </a:pPr>
            <a:r>
              <a:rPr lang="en-US" sz="1200" dirty="0" smtClean="0"/>
              <a:t>Up to 7 available calibrations are possible for selection to </a:t>
            </a:r>
            <a:r>
              <a:rPr lang="en-US" sz="1200" dirty="0" err="1" smtClean="0"/>
              <a:t>autoflash</a:t>
            </a:r>
            <a:r>
              <a:rPr lang="en-US" sz="1200" dirty="0" smtClean="0"/>
              <a:t>. / </a:t>
            </a:r>
            <a:r>
              <a:rPr lang="zh-CN" altLang="en-US" sz="1200" dirty="0" smtClean="0"/>
              <a:t>可支持最多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个标定件号用于选择刷程；</a:t>
            </a:r>
            <a:endParaRPr lang="en-US" sz="1200" dirty="0" smtClean="0"/>
          </a:p>
          <a:p>
            <a:pPr marL="228600" indent="-228600">
              <a:buAutoNum type="arabicPeriod"/>
            </a:pPr>
            <a:r>
              <a:rPr lang="en-US" sz="1200" dirty="0" smtClean="0"/>
              <a:t>Over 7 calibrations then manual calibration area reprogramming is the only choice. In other words Flash the active </a:t>
            </a:r>
            <a:r>
              <a:rPr lang="en-US" sz="1200" dirty="0" err="1" smtClean="0"/>
              <a:t>cal</a:t>
            </a:r>
            <a:r>
              <a:rPr lang="en-US" sz="1200" dirty="0" smtClean="0"/>
              <a:t> block only manually with a test tool. / </a:t>
            </a:r>
            <a:r>
              <a:rPr lang="zh-CN" altLang="en-US" sz="1200" dirty="0" smtClean="0"/>
              <a:t>如多余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个标定软件则只能选择手工刷程（即使用测试工具对激活区进行手工刷写）。</a:t>
            </a:r>
            <a:endParaRPr lang="en-US" sz="1200" dirty="0" smtClean="0"/>
          </a:p>
          <a:p>
            <a:endParaRPr lang="en-US" sz="12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89702"/>
              </p:ext>
            </p:extLst>
          </p:nvPr>
        </p:nvGraphicFramePr>
        <p:xfrm>
          <a:off x="853338" y="2073630"/>
          <a:ext cx="5453547" cy="1744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748"/>
                <a:gridCol w="3529368"/>
                <a:gridCol w="966431"/>
              </a:tblGrid>
              <a:tr h="187782">
                <a:tc gridSpan="3"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effectLst/>
                        </a:rPr>
                        <a:t>Vehicle Calibration Selection/</a:t>
                      </a:r>
                      <a:r>
                        <a:rPr lang="zh-CN" altLang="en-US" sz="800" dirty="0" smtClean="0">
                          <a:effectLst/>
                        </a:rPr>
                        <a:t>车辆标定选择</a:t>
                      </a:r>
                      <a:r>
                        <a:rPr lang="en-US" sz="800" dirty="0" smtClean="0">
                          <a:effectLst/>
                        </a:rPr>
                        <a:t> DID $FD00  (Read/Write </a:t>
                      </a:r>
                      <a:r>
                        <a:rPr lang="zh-CN" altLang="en-US" sz="800" dirty="0" smtClean="0">
                          <a:effectLst/>
                        </a:rPr>
                        <a:t>读写</a:t>
                      </a:r>
                      <a:r>
                        <a:rPr lang="en-US" sz="800" dirty="0" smtClean="0">
                          <a:effectLst/>
                        </a:rPr>
                        <a:t>)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DID Byte </a:t>
                      </a:r>
                      <a:r>
                        <a:rPr lang="en-GB" sz="800" dirty="0" smtClean="0">
                          <a:effectLst/>
                        </a:rPr>
                        <a:t>Index /</a:t>
                      </a:r>
                      <a:r>
                        <a:rPr lang="en-GB" sz="800" baseline="0" dirty="0" smtClean="0">
                          <a:effectLst/>
                        </a:rPr>
                        <a:t> DID </a:t>
                      </a:r>
                      <a:r>
                        <a:rPr lang="zh-CN" altLang="en-US" sz="800" baseline="0" dirty="0" smtClean="0">
                          <a:effectLst/>
                        </a:rPr>
                        <a:t>字节索引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27432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</a:rPr>
                        <a:t>Definition </a:t>
                      </a:r>
                      <a:r>
                        <a:rPr lang="en-US" sz="800" dirty="0" smtClean="0">
                          <a:effectLst/>
                        </a:rPr>
                        <a:t>/</a:t>
                      </a:r>
                      <a:r>
                        <a:rPr lang="en-US" sz="800" baseline="0" dirty="0" smtClean="0">
                          <a:effectLst/>
                        </a:rPr>
                        <a:t> </a:t>
                      </a:r>
                      <a:r>
                        <a:rPr lang="zh-CN" altLang="en-US" sz="800" baseline="0" dirty="0" smtClean="0">
                          <a:effectLst/>
                        </a:rPr>
                        <a:t>定义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432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</a:rPr>
                        <a:t>Display /</a:t>
                      </a:r>
                      <a:r>
                        <a:rPr lang="zh-CN" altLang="en-US" sz="800" dirty="0" smtClean="0">
                          <a:effectLst/>
                        </a:rPr>
                        <a:t>显示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#1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algn="l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ECU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Calibration Selection Part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Number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 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 SB</a:t>
                      </a:r>
                      <a:endParaRPr lang="en-US" sz="800" dirty="0">
                        <a:effectLst/>
                        <a:latin typeface="Arial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#2</a:t>
                      </a:r>
                      <a:endParaRPr lang="en-US" sz="8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Part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Number 2</a:t>
                      </a:r>
                      <a:r>
                        <a:rPr lang="en-US" sz="800" baseline="300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</a:t>
                      </a:r>
                      <a:r>
                        <a:rPr lang="en-US" altLang="zh-CN" sz="800" baseline="300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MSB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#3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2</a:t>
                      </a:r>
                      <a:r>
                        <a:rPr lang="en-US" sz="800" baseline="300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</a:t>
                      </a:r>
                      <a:r>
                        <a:rPr lang="en-US" altLang="zh-CN" sz="800" baseline="300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nd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 L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#4</a:t>
                      </a:r>
                      <a:endParaRPr lang="en-US" sz="8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 </a:t>
                      </a:r>
                      <a:r>
                        <a:rPr lang="en-US" altLang="zh-CN" sz="800" baseline="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USN / 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无符号数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#5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Suffix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1MSB/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刷程选择件号尾缀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1MSB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ASCII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码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369">
                <a:tc>
                  <a:txBody>
                    <a:bodyPr/>
                    <a:lstStyle/>
                    <a:p>
                      <a:pPr marL="27432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#6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" marR="36195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EBCM ECU Calibration Selection  </a:t>
                      </a:r>
                      <a:r>
                        <a:rPr lang="en-US" sz="800" dirty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Part Number Suffix 2 </a:t>
                      </a:r>
                      <a:r>
                        <a:rPr 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LSB/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刷程选择件号尾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缀</a:t>
                      </a:r>
                      <a:r>
                        <a:rPr lang="en-US" altLang="zh-CN" sz="800" dirty="0" smtClean="0">
                          <a:effectLst/>
                          <a:latin typeface="Arial Narrow"/>
                          <a:ea typeface="SimSun"/>
                          <a:cs typeface="Times New Roman"/>
                        </a:rPr>
                        <a:t>2LSB</a:t>
                      </a:r>
                      <a:endParaRPr lang="en-US" sz="800" dirty="0" smtClean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 smtClean="0">
                          <a:effectLst/>
                          <a:latin typeface="Arial Narrow"/>
                          <a:ea typeface="SimSun"/>
                        </a:rPr>
                        <a:t>ASCII</a:t>
                      </a:r>
                      <a:r>
                        <a:rPr lang="zh-CN" altLang="en-US" sz="800" dirty="0" smtClean="0">
                          <a:effectLst/>
                          <a:latin typeface="Arial Narrow"/>
                          <a:ea typeface="SimSun"/>
                        </a:rPr>
                        <a:t>码</a:t>
                      </a:r>
                      <a:endParaRPr lang="en-US" sz="8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3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WI Group Powerpoint Template internal landscape">
  <a:themeElements>
    <a:clrScheme name="">
      <a:dk1>
        <a:srgbClr val="000000"/>
      </a:dk1>
      <a:lt1>
        <a:srgbClr val="FFFFFF"/>
      </a:lt1>
      <a:dk2>
        <a:srgbClr val="FE0606"/>
      </a:dk2>
      <a:lt2>
        <a:srgbClr val="CECECE"/>
      </a:lt2>
      <a:accent1>
        <a:srgbClr val="A2C1FE"/>
      </a:accent1>
      <a:accent2>
        <a:srgbClr val="00FF00"/>
      </a:accent2>
      <a:accent3>
        <a:srgbClr val="FFFFFF"/>
      </a:accent3>
      <a:accent4>
        <a:srgbClr val="000000"/>
      </a:accent4>
      <a:accent5>
        <a:srgbClr val="CEDDFE"/>
      </a:accent5>
      <a:accent6>
        <a:srgbClr val="00E700"/>
      </a:accent6>
      <a:hlink>
        <a:srgbClr val="FAFD00"/>
      </a:hlink>
      <a:folHlink>
        <a:srgbClr val="DADADA"/>
      </a:folHlink>
    </a:clrScheme>
    <a:fontScheme name="disk 2 standards 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disk 2 standards m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k 2 standards ma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k 2 standards ma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k 2 standards ma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k 2 standards ma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k 2 standards ma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k 2 standards ma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6E7D1CC44B9A49B13F2B04BBF1ACD8" ma:contentTypeVersion="0" ma:contentTypeDescription="Create a new document." ma:contentTypeScope="" ma:versionID="6188d78d836769f8e1edcbec8e5f03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DB5B48-0ACA-4A4D-B67B-E8D90CE8B9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E1BCFA3-326E-474B-933F-3BB6EFCBC2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A99A78-16BE-4EED-A504-C46001780EBA}">
  <ds:schemaRefs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BWI Group Powerpoint Template internal landscape</Template>
  <TotalTime>154916</TotalTime>
  <Words>1650</Words>
  <Application>Microsoft Office PowerPoint</Application>
  <PresentationFormat>On-screen Show (4:3)</PresentationFormat>
  <Paragraphs>157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BWI Group Powerpoint Template internal landscape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SGM318 GMLAN Update</dc:title>
  <dc:creator>Tom Fornari</dc:creator>
  <cp:lastModifiedBy>Yao Jiping</cp:lastModifiedBy>
  <cp:revision>514</cp:revision>
  <cp:lastPrinted>2014-10-28T23:01:26Z</cp:lastPrinted>
  <dcterms:created xsi:type="dcterms:W3CDTF">2012-11-28T23:14:20Z</dcterms:created>
  <dcterms:modified xsi:type="dcterms:W3CDTF">2015-03-27T08:45:00Z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0x0101006A6E7D1CC44B9A49B13F2B04BBF1ACD8</vt:lpwstr>
  </property>
</Properties>
</file>